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17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Clear tickets</c:v>
                  </c:pt>
                  <c:pt idx="1">
                    <c:v>Hard tickets</c:v>
                  </c:pt>
                  <c:pt idx="2">
                    <c:v>Routing 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75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717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4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9E0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7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7071055" y="2103120"/>
            <a:ext cx="6766560" cy="6766560"/>
          </a:xfrm>
          <a:prstGeom prst="ellipse">
            <a:avLst/>
          </a:prstGeom>
          <a:solidFill>
            <a:srgbClr val="3A2417"/>
          </a:solidFill>
          <a:ln w="12700">
            <a:solidFill>
              <a:srgbClr val="3A2417"/>
            </a:solidFill>
            <a:prstDash val="solid"/>
          </a:ln>
        </p:spPr>
      </p:sp>
      <p:pic>
        <p:nvPicPr>
          <p:cNvPr id="4" name="Image 0" descr="C:\Users\sanjisuman\Desktop\TICKET_UPS\deck\assets\up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18110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IT SERVICE DESK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30175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68680" y="4251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C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AI for Ticket Triage, Routing &amp; Autonomous Resolution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5349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5870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private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08960" y="5349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108960" y="5870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5349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349240" y="5870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5349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589520" y="5870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support desks can't keep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request becomes a manual ticket. Agents read, categorise, prioritise and route each one by hand — slow, inconsistent, and impossible after hours.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566928" cy="566928"/>
          </a:xfrm>
          <a:prstGeom prst="ellipse">
            <a:avLst/>
          </a:prstGeom>
          <a:solidFill>
            <a:srgbClr val="FAF5EE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16733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1536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first response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0" y="18470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means simple, fixable issues wait in a queue for hours.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2724912"/>
            <a:ext cx="566928" cy="566928"/>
          </a:xfrm>
          <a:prstGeom prst="ellipse">
            <a:avLst/>
          </a:prstGeom>
          <a:solidFill>
            <a:srgbClr val="FAF5EE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84378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0" y="2706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Misrouted tickets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046720" y="30175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requests land in the wrong team and bounce around before action.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0" y="3895344"/>
            <a:ext cx="566928" cy="566928"/>
          </a:xfrm>
          <a:prstGeom prst="ellipse">
            <a:avLst/>
          </a:prstGeom>
          <a:solidFill>
            <a:srgbClr val="FAF5EE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401421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3877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after-hours cover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046720" y="41879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office hours nothing moves — even a password reset waits till morning.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0" y="5065776"/>
            <a:ext cx="566928" cy="566928"/>
          </a:xfrm>
          <a:prstGeom prst="ellipse">
            <a:avLst/>
          </a:prstGeom>
          <a:solidFill>
            <a:srgbClr val="FAF5EE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51846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0" y="50474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cost per ticket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046720" y="535838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agents spend time on repetitive, low-value classification work.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069080"/>
            <a:ext cx="6309360" cy="1874520"/>
          </a:xfrm>
          <a:prstGeom prst="rect">
            <a:avLst/>
          </a:prstGeom>
          <a:solidFill>
            <a:srgbClr val="27171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4069080"/>
            <a:ext cx="109728" cy="18745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Text 17"/>
          <p:cNvSpPr/>
          <p:nvPr/>
        </p:nvSpPr>
        <p:spPr>
          <a:xfrm>
            <a:off x="960120" y="4251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40%</a:t>
            </a:r>
            <a:endParaRPr lang="en-US" sz="5400" dirty="0"/>
          </a:p>
        </p:txBody>
      </p:sp>
      <p:sp>
        <p:nvSpPr>
          <p:cNvPr id="24" name="Text 18"/>
          <p:cNvSpPr/>
          <p:nvPr/>
        </p:nvSpPr>
        <p:spPr>
          <a:xfrm>
            <a:off x="3657600" y="4297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D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help-desk tickets are repetitive, low-risk issues that could be resolved automatically — if something could safely decide which ones.</a:t>
            </a:r>
            <a:endParaRPr lang="en-US" sz="1350" dirty="0"/>
          </a:p>
        </p:txBody>
      </p:sp>
      <p:pic>
        <p:nvPicPr>
          <p:cNvPr id="25" name="Image 4" descr="C:\Users\sanjisuman\Desktop\TICKET_UPS\deck\assets\ups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agent that handles the whole ticket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TicketAI chats with the user, understands the real problem, classifies and routes it to the right department — and safely resolves the routine ones on its own.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4203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2542032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32888"/>
            <a:ext cx="868680" cy="86868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614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5661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 greeting from a keyword from a real ticket, then asks smart questions until the issue is clear.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19856" y="2148840"/>
            <a:ext cx="254203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9856" y="2148840"/>
            <a:ext cx="2542032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2532888"/>
            <a:ext cx="868680" cy="86868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76148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94176" y="35661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3694176" y="402336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DistilBERT model assigns the category in ~36 ms, with a local LLM as a second opinion.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99632" y="2148840"/>
            <a:ext cx="254203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99632" y="2148840"/>
            <a:ext cx="2542032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73952" y="2532888"/>
            <a:ext cx="868680" cy="86868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76148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73952" y="35661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6473952" y="402336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maps to one of five departments — agents only ever see tickets that are theirs.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979408" y="2148840"/>
            <a:ext cx="254203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79408" y="2148840"/>
            <a:ext cx="2542032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Shape 20"/>
          <p:cNvSpPr/>
          <p:nvPr/>
        </p:nvSpPr>
        <p:spPr>
          <a:xfrm>
            <a:off x="9253728" y="2532888"/>
            <a:ext cx="868680" cy="86868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76148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53728" y="35661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Resolves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9253728" y="4023360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routine tickets get step-by-step fixes generated on-device; risky ones go to a human.</a:t>
            </a:r>
            <a:endParaRPr lang="en-US" sz="1300" dirty="0"/>
          </a:p>
        </p:txBody>
      </p:sp>
      <p:pic>
        <p:nvPicPr>
          <p:cNvPr id="29" name="Image 4" descr="C:\Users\sanjisuman\Desktop\TICKET_UPS\deck\assets\ups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chat message to a resolved ticket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AF5EE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57400"/>
            <a:ext cx="603504" cy="603504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8541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947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D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30083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Greeting, keyword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real ticket?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90672" y="21945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3493008" y="17830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AF5EE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2057400"/>
            <a:ext cx="603504" cy="603504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218541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947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D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749040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49040" y="30083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tailored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until clear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43600" y="21945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6345936" y="17830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AF5EE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01968" y="2057400"/>
            <a:ext cx="603504" cy="603504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218541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74736" y="1947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D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601968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601968" y="30083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+ LLM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category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96528" y="219456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400" dirty="0"/>
          </a:p>
        </p:txBody>
      </p:sp>
      <p:sp>
        <p:nvSpPr>
          <p:cNvPr id="25" name="Shape 20"/>
          <p:cNvSpPr/>
          <p:nvPr/>
        </p:nvSpPr>
        <p:spPr>
          <a:xfrm>
            <a:off x="9198864" y="17830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AF5EE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454896" y="2057400"/>
            <a:ext cx="603504" cy="603504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185416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027664" y="1947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2D3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9454896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454896" y="300837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category to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department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Engine then picks one of three outcomes: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640080" y="4114800"/>
            <a:ext cx="34472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0080" y="4114800"/>
            <a:ext cx="109728" cy="1600200"/>
          </a:xfrm>
          <a:prstGeom prst="rect">
            <a:avLst/>
          </a:prstGeom>
          <a:solidFill>
            <a:srgbClr val="2E7D52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8912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54480" y="4407408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950976" y="4956048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fix in the user's language and resolves it on the spot.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361688" y="4114800"/>
            <a:ext cx="34472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4361688" y="4114800"/>
            <a:ext cx="109728" cy="1600200"/>
          </a:xfrm>
          <a:prstGeom prst="rect">
            <a:avLst/>
          </a:prstGeom>
          <a:solidFill>
            <a:srgbClr val="C9821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6" y="438912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276088" y="4407408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41" name="Text 33"/>
          <p:cNvSpPr/>
          <p:nvPr/>
        </p:nvSpPr>
        <p:spPr>
          <a:xfrm>
            <a:off x="4672584" y="4956048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for the owning department with an AI-suggested answer attached.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8083296" y="4114800"/>
            <a:ext cx="34472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8083296" y="4114800"/>
            <a:ext cx="109728" cy="1600200"/>
          </a:xfrm>
          <a:prstGeom prst="rect">
            <a:avLst/>
          </a:prstGeom>
          <a:solidFill>
            <a:srgbClr val="B0432F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4389120"/>
            <a:ext cx="457200" cy="45720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997696" y="4407408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escalation</a:t>
            </a:r>
            <a:endParaRPr lang="en-US" sz="1700" dirty="0"/>
          </a:p>
        </p:txBody>
      </p:sp>
      <p:sp>
        <p:nvSpPr>
          <p:cNvPr id="46" name="Text 37"/>
          <p:cNvSpPr/>
          <p:nvPr/>
        </p:nvSpPr>
        <p:spPr>
          <a:xfrm>
            <a:off x="8394192" y="4956048"/>
            <a:ext cx="2898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or out-of-domain — sent straight to a person, no auto-action.</a:t>
            </a:r>
            <a:endParaRPr lang="en-US" sz="1250" dirty="0"/>
          </a:p>
        </p:txBody>
      </p:sp>
      <p:pic>
        <p:nvPicPr>
          <p:cNvPr id="47" name="Image 7" descr="C:\Users\sanjisuman\Desktop\TICKET_UPS\deck\assets\ups-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hybrid of three local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where speed matters, smart where nuance matters — and everything runs on the laptop's own GPU and CPU. No cloud, no API keys.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47288" cy="3063240"/>
          </a:xfrm>
          <a:prstGeom prst="rect">
            <a:avLst/>
          </a:prstGeom>
          <a:solidFill>
            <a:srgbClr val="3A2417"/>
          </a:solidFill>
          <a:ln w="12700">
            <a:solidFill>
              <a:srgbClr val="6B4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6032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072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61188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DistilBERT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3986784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classifier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315968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20 IT categories. Runs on CPU in ~36 ms — the fast primary path for most tickets.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1688" y="2194560"/>
            <a:ext cx="3447288" cy="3063240"/>
          </a:xfrm>
          <a:prstGeom prst="rect">
            <a:avLst/>
          </a:prstGeom>
          <a:solidFill>
            <a:srgbClr val="3A2417"/>
          </a:solidFill>
          <a:ln w="12700">
            <a:solidFill>
              <a:srgbClr val="6B4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256032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80720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1728" y="361188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2.5 (Ollama)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81728" y="3986784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LLM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81728" y="4315968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intent, clarifying questions, solution steps and translation. GPU-accelerated at ~64 tok/s.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83296" y="2194560"/>
            <a:ext cx="3447288" cy="3063240"/>
          </a:xfrm>
          <a:prstGeom prst="rect">
            <a:avLst/>
          </a:prstGeom>
          <a:solidFill>
            <a:srgbClr val="3A2417"/>
          </a:solidFill>
          <a:ln w="12700">
            <a:solidFill>
              <a:srgbClr val="6B4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3336" y="2560320"/>
            <a:ext cx="914400" cy="9144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80720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3336" y="361188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nomic-embed-text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03336" y="3986784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03336" y="4315968"/>
            <a:ext cx="2898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 vectors flag duplicate and similar tickets so the same problem isn't solved twice.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0.70 on DistilBERT → the LLM is asked for a second opinion before routing.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brings to the desk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7830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019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3-way intent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4414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raises a ticket from a single word like “vpn”.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9856" y="15087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75888" y="17830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9019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34256" y="18013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Clarify loop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75888" y="24414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asking until the problem is genuinely understood.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5087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17830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9019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14032" y="18013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routing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5664" y="24414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teams, each scoped to their own categories.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9408" y="15087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5440" y="17830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90195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93808" y="18013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guards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24414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damage &amp; out-of-domain go to a human, not auto-fix.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35661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96112" y="38404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95935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8587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localization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96112" y="44988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reply is translated into the user's language.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419856" y="35661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75888" y="38404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395935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34256" y="38587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 OCR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3675888" y="44988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attached screenshots to capture the issue.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199632" y="35661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55664" y="38404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3959352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14032" y="38587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6455664" y="44988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SLA, priority mix &amp; feedback — scoped per team.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8979408" y="3566160"/>
            <a:ext cx="2542032" cy="17830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235440" y="3840480"/>
            <a:ext cx="566928" cy="566928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4312" y="3959352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893808" y="3858768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auth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9235440" y="44988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sign-up with role-based access.</a:t>
            </a:r>
            <a:endParaRPr lang="en-US" sz="1150" dirty="0"/>
          </a:p>
        </p:txBody>
      </p:sp>
      <p:pic>
        <p:nvPicPr>
          <p:cNvPr id="44" name="Image 8" descr="C:\Users\sanjisuman\Desktop\TICKET_UPS\deck\assets\ups-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category has an owner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AI-assigned category decides the team. Department agents are hard-scoped — they only ever see their own tickets. Shared categories (e.g. Onboarding) appear for every owning team.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087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1828800" cy="658368"/>
          </a:xfrm>
          <a:prstGeom prst="rect">
            <a:avLst/>
          </a:prstGeom>
          <a:solidFill>
            <a:srgbClr val="27171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97480" y="21579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Support Group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0" y="2157984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· Network · Email · Password · Printer · Software · Hardware · Performance · Security · +6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9504"/>
            <a:ext cx="109087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89504"/>
            <a:ext cx="1828800" cy="658368"/>
          </a:xfrm>
          <a:prstGeom prst="rect">
            <a:avLst/>
          </a:prstGeom>
          <a:solidFill>
            <a:srgbClr val="27171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95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2944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2944368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· Access requests · Onboarding · Offboarding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75888"/>
            <a:ext cx="109087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75888"/>
            <a:ext cx="1828800" cy="658368"/>
          </a:xfrm>
          <a:prstGeom prst="rect">
            <a:avLst/>
          </a:prstGeom>
          <a:solidFill>
            <a:srgbClr val="27171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758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HR-GO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3730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Global Operations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373075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· Compliance · Onboarding · Offboarding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62272"/>
            <a:ext cx="109087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462272"/>
            <a:ext cx="1828800" cy="658368"/>
          </a:xfrm>
          <a:prstGeom prst="rect">
            <a:avLst/>
          </a:prstGeom>
          <a:solidFill>
            <a:srgbClr val="27171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6227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HR-BP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97480" y="45171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Business Partner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2160" y="4517136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conduct · Compliance · Onboarding · Offboarding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48656"/>
            <a:ext cx="109087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248656"/>
            <a:ext cx="1828800" cy="658368"/>
          </a:xfrm>
          <a:prstGeom prst="rect">
            <a:avLst/>
          </a:prstGeom>
          <a:solidFill>
            <a:srgbClr val="27171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48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97480" y="5303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52160" y="53035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reimbursements</a:t>
            </a:r>
            <a:endParaRPr lang="en-US" sz="1200" dirty="0"/>
          </a:p>
        </p:txBody>
      </p:sp>
      <p:pic>
        <p:nvPicPr>
          <p:cNvPr id="30" name="Image 0" descr="C:\Users\sanjisuman\Desktop\TICKET_UPS\deck\assets\up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lean, local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402336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874520"/>
            <a:ext cx="777240" cy="77724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07568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7614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32688" y="3182112"/>
            <a:ext cx="1956816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3337560"/>
            <a:ext cx="2039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(fine-tuned)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 2.5 3B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19856" y="1554480"/>
            <a:ext cx="2542032" cy="402336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12464" y="1874520"/>
            <a:ext cx="777240" cy="77724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07568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12464" y="27614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712464" y="3182112"/>
            <a:ext cx="1956816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30752" y="3337560"/>
            <a:ext cx="2039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(async)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asyncpg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(async ORM)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(PyJWT) + bcrypt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99632" y="1554480"/>
            <a:ext cx="2542032" cy="402336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92240" y="1874520"/>
            <a:ext cx="777240" cy="77724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7568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7614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6492240" y="3182112"/>
            <a:ext cx="1956816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10528" y="3337560"/>
            <a:ext cx="2039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(Create React App)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chat UI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interface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79408" y="1554480"/>
            <a:ext cx="2542032" cy="402336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72016" y="1874520"/>
            <a:ext cx="777240" cy="77724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2075688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2016" y="27614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9272016" y="3182112"/>
            <a:ext cx="1956816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290304" y="3337560"/>
            <a:ext cx="20391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retraining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SLA watchdog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feedback logs</a:t>
            </a:r>
            <a:endParaRPr lang="en-US" sz="1250" dirty="0"/>
          </a:p>
        </p:txBody>
      </p:sp>
      <p:pic>
        <p:nvPicPr>
          <p:cNvPr id="28" name="Image 4" descr="C:\Users\sanjisuman\Desktop\TICKET_UPS\deck\assets\ups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 and measured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42032" cy="1554480"/>
          </a:xfrm>
          <a:prstGeom prst="rect">
            <a:avLst/>
          </a:prstGeom>
          <a:solidFill>
            <a:srgbClr val="27171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42032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5564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accuracy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clearly-worded tickets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1554480"/>
            <a:ext cx="2542032" cy="1554480"/>
          </a:xfrm>
          <a:prstGeom prst="rect">
            <a:avLst/>
          </a:prstGeom>
          <a:solidFill>
            <a:srgbClr val="27171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1554480"/>
            <a:ext cx="2542032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75564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~36 ms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511296" y="24231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11296" y="27157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on CPU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554480"/>
            <a:ext cx="2542032" cy="1554480"/>
          </a:xfrm>
          <a:prstGeom prst="rect">
            <a:avLst/>
          </a:prstGeom>
          <a:solidFill>
            <a:srgbClr val="27171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554480"/>
            <a:ext cx="2542032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75564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auto-resolution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91072" y="27157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to 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9408" y="1554480"/>
            <a:ext cx="2542032" cy="1554480"/>
          </a:xfrm>
          <a:prstGeom prst="rect">
            <a:avLst/>
          </a:prstGeom>
          <a:solidFill>
            <a:srgbClr val="271710"/>
          </a:solidFill>
          <a:ln/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79408" y="1554480"/>
            <a:ext cx="2542032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025128" y="175564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070848" y="242316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70848" y="271576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/ keyword / ticket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accuracy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3794760"/>
          <a:ext cx="5669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583680" y="3794760"/>
            <a:ext cx="4937760" cy="2468880"/>
          </a:xfrm>
          <a:prstGeom prst="rect">
            <a:avLst/>
          </a:prstGeom>
          <a:solidFill>
            <a:srgbClr val="FAF5EE"/>
          </a:solidFill>
          <a:ln w="12700">
            <a:solidFill>
              <a:srgbClr val="E9E0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58000" y="4343400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the exact category is hard to guess, the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A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class is right 100% of the time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a ticket always reaches the correct team, and a safe one is never auto-resolved by mistake.</a:t>
            </a:r>
            <a:endParaRPr lang="en-US" sz="1350" dirty="0"/>
          </a:p>
        </p:txBody>
      </p:sp>
      <p:pic>
        <p:nvPicPr>
          <p:cNvPr id="29" name="Image 0" descr="C:\Users\sanjisuman\Desktop\TICKET_UPS\deck\assets\ups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109728" cy="19202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148840"/>
            <a:ext cx="914400" cy="91440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3865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F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148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Always-on hosting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148840" y="257860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single-service build to the cloud with a hosted LLM fallback — no PC required.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645920"/>
            <a:ext cx="109728" cy="19202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2148840"/>
            <a:ext cx="914400" cy="91440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38658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469880" y="1828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F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integrations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772400" y="257860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simulated workflows for live ServiceNow, Okta, Intune &amp; M365 actions.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8404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840480"/>
            <a:ext cx="109728" cy="19202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0" name="Shape 16"/>
          <p:cNvSpPr/>
          <p:nvPr/>
        </p:nvSpPr>
        <p:spPr>
          <a:xfrm>
            <a:off x="1005840" y="4343400"/>
            <a:ext cx="914400" cy="91440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58114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4023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F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214884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test suite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2148840" y="477316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intent, routing and guard behaviour with a pytest regression suite.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263640" y="384048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0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63640" y="3840480"/>
            <a:ext cx="109728" cy="19202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7" name="Shape 22"/>
          <p:cNvSpPr/>
          <p:nvPr/>
        </p:nvSpPr>
        <p:spPr>
          <a:xfrm>
            <a:off x="6629400" y="4343400"/>
            <a:ext cx="914400" cy="914400"/>
          </a:xfrm>
          <a:prstGeom prst="ellipse">
            <a:avLst/>
          </a:prstGeom>
          <a:solidFill>
            <a:srgbClr val="271710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4581144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69880" y="4023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F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30" name="Text 24"/>
          <p:cNvSpPr/>
          <p:nvPr/>
        </p:nvSpPr>
        <p:spPr>
          <a:xfrm>
            <a:off x="777240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 frontend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7772400" y="477316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single-file UI into components for maintainability and scale.</a:t>
            </a:r>
            <a:endParaRPr lang="en-US" sz="1300" dirty="0"/>
          </a:p>
        </p:txBody>
      </p:sp>
      <p:pic>
        <p:nvPicPr>
          <p:cNvPr id="32" name="Image 4" descr="C:\Users\sanjisuman\Desktop\TICKET_UPS\deck\assets\ups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291072"/>
            <a:ext cx="259080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77240" y="6291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368735" y="62910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3A2417"/>
          </a:solidFill>
          <a:ln w="12700">
            <a:solidFill>
              <a:srgbClr val="3A2417"/>
            </a:solidFill>
            <a:prstDash val="solid"/>
          </a:ln>
        </p:spPr>
      </p:sp>
      <p:pic>
        <p:nvPicPr>
          <p:cNvPr id="4" name="Image 0" descr="C:\Users\sanjisuman\Desktop\TICKET_UPS\deck\assets\up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822960"/>
            <a:ext cx="11430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TicketAI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0058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7DC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triage. Faster resolution. Fully on-prem.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024128" y="4526280"/>
            <a:ext cx="4114800" cy="0"/>
          </a:xfrm>
          <a:prstGeom prst="line">
            <a:avLst/>
          </a:prstGeom>
          <a:noFill/>
          <a:ln w="19050">
            <a:solidFill>
              <a:srgbClr val="6B4A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B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· DistilBERT + Qwen 2.5 + embeddings  ·  100% local  ·  $0 cloud cost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TicketAI — Hybrid AI Ticket Triage</dc:title>
  <dc:subject>PptxGenJS Presentation</dc:subject>
  <dc:creator>TicketAI</dc:creator>
  <cp:lastModifiedBy>TicketAI</cp:lastModifiedBy>
  <cp:revision>1</cp:revision>
  <dcterms:created xsi:type="dcterms:W3CDTF">2026-06-16T09:28:59Z</dcterms:created>
  <dcterms:modified xsi:type="dcterms:W3CDTF">2026-06-16T09:28:59Z</dcterms:modified>
</cp:coreProperties>
</file>